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</ns0:sldIdLst>
  <ns0:sldSz cx="12192000" cy="6858000" type="screen4x3"/>
  <ns0:notesSz cx="6858000" cy="9144000"/>
  <ns0:embeddedFontLst>
    <ns0:embeddedFont>
      <ns0:font typeface="Inter"/>
      <ns0:bold ns1:id="rIdFont18"/>
      <ns0:regular ns1:id="rIdFont19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ns0:Relationship Id="rId16" Type="http://schemas.openxmlformats.org/officeDocument/2006/relationships/slide" Target="slides/slide10.xml" /><ns0:Relationship Id="rId17" Type="http://schemas.openxmlformats.org/officeDocument/2006/relationships/slide" Target="slides/slide11.xml" /><ns0:Relationship Id="rIdFont18" Type="http://schemas.openxmlformats.org/officeDocument/2006/relationships/font" Target="fonts/ccd8ecdf-afd8-4b48-81e8-fae743963525.fntdata" /><ns0:Relationship Id="rIdFont19" Type="http://schemas.openxmlformats.org/officeDocument/2006/relationships/font" Target="fonts/5bcad3c3-7492-4ec9-9264-cd0a51c2060c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4625280"/>
            <a:ext cx="609600" cy="38100"/>
          </a:xfrm>
          <a:prstGeom prst="rect">
            <a:avLst/>
          </a:prstGeom>
          <a:solidFill>
            <a:srgbClr val="FF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194619"/>
            <a:ext cx="1905000" cy="276225"/>
          </a:xfrm>
          <a:prstGeom prst="roundRect">
            <a:avLst>
              <a:gd name="adj" fmla="val 20689"/>
            </a:avLst>
          </a:prstGeom>
          <a:solidFill>
            <a:srgbClr val="FF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2661344"/>
            <a:ext cx="3612951" cy="828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5400" i="0" u="none">
                <a:solidFill>
                  <a:srgbClr val="FFFFFF"/>
                </a:solidFill>
                <a:latin typeface="Inter"/>
              </a:rPr>
              <a:t>CHATFS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642419"/>
            <a:ext cx="6762750" cy="639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b="0" sz="1800" i="0" u="none">
                <a:solidFill>
                  <a:srgbClr val="9CA3AF"/>
                </a:solidFill>
                <a:latin typeface="Inter"/>
              </a:rPr>
              <a:t>Lightning-fast real-time messaging platform built for developers.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2251769"/>
            <a:ext cx="17335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FFFF"/>
                </a:solidFill>
                <a:latin typeface="Inter"/>
              </a:rPr>
              <a:t>First//Commit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052762"/>
            <a:ext cx="3454449" cy="1943100"/>
          </a:xfrm>
          <a:prstGeom prst="roundRect">
            <a:avLst>
              <a:gd name="adj" fmla="val 5882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433762"/>
            <a:ext cx="26670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074" y="3533775"/>
            <a:ext cx="26670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324" y="3533775"/>
            <a:ext cx="23812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The Developer Communication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Fast-paced hacking requires frictionless collaboration without distractions.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881437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Fragmented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243387"/>
            <a:ext cx="29972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Context switching slows momentum.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074" y="3981450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Clunky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07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Distracting animations and bloat.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324" y="3981450"/>
            <a:ext cx="3787675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High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32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Delays in critical updates.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57875" y="2883247"/>
            <a:ext cx="5724525" cy="2282130"/>
          </a:xfrm>
          <a:prstGeom prst="roundRect">
            <a:avLst>
              <a:gd name="adj" fmla="val 667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967037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3881437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9600" y="4595812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Introducing CHATFS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Engineered specifically for developer velocity and clean aesthetics.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3349972"/>
            <a:ext cx="58674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4F4F"/>
                </a:solidFill>
                <a:latin typeface="Inter"/>
              </a:rPr>
              <a:t>HACKATHON HIGHLIGHT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3626197"/>
            <a:ext cx="5867400" cy="371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FFFFFF"/>
                </a:solidFill>
                <a:latin typeface="Inter"/>
              </a:rPr>
              <a:t>Built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4150072"/>
            <a:ext cx="4886325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9CA3AF"/>
                </a:solidFill>
                <a:latin typeface="Inter"/>
              </a:rPr>
              <a:t>From initial commit to fully functional real-time chat application for First//Commit.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25" y="2967037"/>
            <a:ext cx="6667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1200" i="0" u="none">
                <a:solidFill>
                  <a:srgbClr val="FF4F4F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25" y="3881437"/>
            <a:ext cx="6667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1200" i="0" u="none">
                <a:solidFill>
                  <a:srgbClr val="FF4F4F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25" y="4595812"/>
            <a:ext cx="6667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1200" i="0" u="none">
                <a:solidFill>
                  <a:srgbClr val="FF4F4F"/>
                </a:solidFill>
                <a:latin typeface="Inter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967037"/>
            <a:ext cx="558819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FFFFF"/>
                </a:solidFill>
                <a:latin typeface="Inter"/>
              </a:rPr>
              <a:t>Zero Bloat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52787"/>
            <a:ext cx="435292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Lightweight codebase focused purely on communication speed.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81437"/>
            <a:ext cx="543817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FFFFF"/>
                </a:solidFill>
                <a:latin typeface="Inter"/>
              </a:rPr>
              <a:t>Instant Peer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67187"/>
            <a:ext cx="5179218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Quick user search and direct messaging channels.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95812"/>
            <a:ext cx="4525565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FFFFF"/>
                </a:solidFill>
                <a:latin typeface="Inter"/>
              </a:rPr>
              <a:t>Dark-First Aesthetic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881562"/>
            <a:ext cx="431006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Optimized for late-night hacking sessions.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533775"/>
            <a:ext cx="238125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074" y="3533775"/>
            <a:ext cx="33337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324" y="3533775"/>
            <a:ext cx="2667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Core Architecture &amp;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Robust foundational pillars powering CHATFS.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981450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Secure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Instant login and session handling.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074" y="3981450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Real-Time 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07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Instant socket-driven dispatch.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324" y="3981450"/>
            <a:ext cx="3787675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User 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32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Quick search across active peers.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564" y="1609725"/>
            <a:ext cx="5735835" cy="47148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481387"/>
            <a:ext cx="171450" cy="190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871912"/>
            <a:ext cx="171450" cy="19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262437"/>
            <a:ext cx="171450" cy="19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Design: Authentication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Clean entry point featuring distinctive dark-mode styling and accent highlights.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" y="3476625"/>
            <a:ext cx="259556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Minimalist dark aesthetic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3867150"/>
            <a:ext cx="3155156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Instant feedback on user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50" y="4257675"/>
            <a:ext cx="29527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Seamless account switching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09725"/>
            <a:ext cx="5735835" cy="47148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635" y="3481387"/>
            <a:ext cx="171450" cy="190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635" y="3871912"/>
            <a:ext cx="171450" cy="19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635" y="4262437"/>
            <a:ext cx="171450" cy="19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Design: Main Chat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Organized sidebar with live peer search and active conversation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8385" y="3476625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Active peer navigation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8385" y="3867150"/>
            <a:ext cx="27622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Clean message history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8385" y="4257675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Distraction-free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564" y="1609725"/>
            <a:ext cx="5735835" cy="47148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481387"/>
            <a:ext cx="171450" cy="190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871912"/>
            <a:ext cx="171450" cy="19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262437"/>
            <a:ext cx="171450" cy="19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Design: Real-Time Messaging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Fluid message dispatch with clear sender distinction and responsive input.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" y="3476625"/>
            <a:ext cx="2619375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Instant message delivery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3867150"/>
            <a:ext cx="2369343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Direct peer connection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50" y="4257675"/>
            <a:ext cx="26670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Optimized input feedback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533775"/>
            <a:ext cx="333375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074" y="3533775"/>
            <a:ext cx="33337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324" y="3533775"/>
            <a:ext cx="2667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Under the 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Modern technology stack optimized for low latency and high reliability.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981450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Modern responsive web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074" y="3981450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Real-Time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07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Low-latency communication.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324" y="3981450"/>
            <a:ext cx="3787675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32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Robust state management.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157537"/>
            <a:ext cx="3454449" cy="1733550"/>
          </a:xfrm>
          <a:prstGeom prst="roundRect">
            <a:avLst>
              <a:gd name="adj" fmla="val 6593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3257550"/>
            <a:ext cx="3454449" cy="1533525"/>
          </a:xfrm>
          <a:prstGeom prst="roundRect">
            <a:avLst>
              <a:gd name="adj" fmla="val 7453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3257550"/>
            <a:ext cx="3454449" cy="1533525"/>
          </a:xfrm>
          <a:prstGeom prst="roundRect">
            <a:avLst>
              <a:gd name="adj" fmla="val 7453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First//Commit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Rapid development phases during the hackathon sprint.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3500437"/>
            <a:ext cx="3016299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4F4F"/>
                </a:solidFill>
                <a:latin typeface="Inter"/>
              </a:rPr>
              <a:t>PHASE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35549" y="3600450"/>
            <a:ext cx="3016299" cy="847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4F4F"/>
                </a:solidFill>
                <a:latin typeface="Inter"/>
              </a:rPr>
              <a:t>PHASE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799" y="3600450"/>
            <a:ext cx="3016299" cy="847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4F4F"/>
                </a:solidFill>
                <a:latin typeface="Inter"/>
              </a:rPr>
              <a:t>PHASE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814762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Ideation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138612"/>
            <a:ext cx="29972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Scoped core messaging flow in hour 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074" y="3914775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074" y="4238625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Rapid prototyping and UI polish.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324" y="3914775"/>
            <a:ext cx="3787675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324" y="4238625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Production-ready build for demo.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3152775"/>
            <a:ext cx="3454449" cy="1743075"/>
          </a:xfrm>
          <a:prstGeom prst="roundRect">
            <a:avLst>
              <a:gd name="adj" fmla="val 6557"/>
            </a:avLst>
          </a:prstGeom>
          <a:solidFill>
            <a:srgbClr val="1C1C24"/>
          </a:solidFill>
          <a:ln w="9525">
            <a:solidFill>
              <a:srgbClr val="2D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533775"/>
            <a:ext cx="26670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074" y="3533775"/>
            <a:ext cx="33337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324" y="3533775"/>
            <a:ext cx="20002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FFFFFF"/>
                </a:solidFill>
                <a:latin typeface="Inter"/>
              </a:rPr>
              <a:t>What's Next for CHATFS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066800"/>
            <a:ext cx="11582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Expanding capabilities beyond the hackathon MVP.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981450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Encryption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End-to-end data privacy.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074" y="3981450"/>
            <a:ext cx="380887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Group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07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Multi-developer team rooms.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324" y="3981450"/>
            <a:ext cx="3787675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FFFFF"/>
                </a:solidFill>
                <a:latin typeface="Inter"/>
              </a:rPr>
              <a:t>File Sharing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324" y="4343400"/>
            <a:ext cx="36274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CA3AF"/>
                </a:solidFill>
                <a:latin typeface="Inter"/>
              </a:rPr>
              <a:t>Instant snippet &amp; asset transfer.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424112"/>
            <a:ext cx="1905000" cy="276225"/>
          </a:xfrm>
          <a:prstGeom prst="roundRect">
            <a:avLst>
              <a:gd name="adj" fmla="val 20689"/>
            </a:avLst>
          </a:prstGeom>
          <a:solidFill>
            <a:srgbClr val="FF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95787"/>
            <a:ext cx="609600" cy="38100"/>
          </a:xfrm>
          <a:prstGeom prst="rect">
            <a:avLst/>
          </a:prstGeom>
          <a:solidFill>
            <a:srgbClr val="FF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2950" y="2481262"/>
            <a:ext cx="17335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FFFF"/>
                </a:solidFill>
                <a:latin typeface="Inter"/>
              </a:rPr>
              <a:t>First//Commit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890837"/>
            <a:ext cx="4200525" cy="733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4800" i="0" u="none">
                <a:solidFill>
                  <a:srgbClr val="FFFFFF"/>
                </a:solidFill>
                <a:latin typeface="Inter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776662"/>
            <a:ext cx="4702968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9CA3AF"/>
                </a:solidFill>
                <a:latin typeface="Inter"/>
              </a:rPr>
              <a:t>Ready for questions and feedback.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