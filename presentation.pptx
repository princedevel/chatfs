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5222799-6501-1200-47de-39f64ffa996a}">
          <p14:sldIdLst>
            <p14:sldId id="256"/>
          </p14:sldIdLst>
        </p14:section>
        <p14:section name="Problem and solution" id="{59174cc3-6f18-84ec-d6b6-318ea1f21c43}">
          <p14:sldIdLst>
            <p14:sldId id="257"/>
            <p14:sldId id="258"/>
          </p14:sldIdLst>
        </p14:section>
        <p14:section name="Under the hood" id="{cae3255b-7233-f423-6f4b-286acfa8413b}">
          <p14:sldIdLst>
            <p14:sldId id="259"/>
            <p14:sldId id="260"/>
            <p14:sldId id="261"/>
            <p14:sldId id="262"/>
          </p14:sldIdLst>
        </p14:section>
        <p14:section name="What's next" id="{e0a738ae-4c53-8af5-551b-88060caaf825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we're first//commit. This is CHATFS, a chat app where every conversation is private and every user has a real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version was a single public room where anyone could type any name. We replaced it with accounts and private one-to-one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things: real accounts, private threads (direct or group), and a live feel without any page refreshes.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flow. Everything after login happens on one page, powered by HTMX.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one concrete protection. The most important is that the sender is taken from the session and every query is scoped to the logged-in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talks to one FastHTML app. A middleware checks the session before every route. Five small SQLite tables hold everything: users, direct messages and three for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Hackathon-friendly: one install, one file, nothing to configure.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Shipped is what you just saw. Next is what we would build with another day. Later is the longer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 and invite questions 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TFS logo" descr="CHATF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743200" cy="7132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2860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first</a:t>
            </a:r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//</a:t>
            </a:r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commit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CHATFS: private 1-to-1 and group chat with real accounts, grown from a single shared room.</a:t>
            </a:r>
            <a:endParaRPr lang="en-US" sz="2200" dirty="0"/>
          </a:p>
        </p:txBody>
      </p:sp>
      <p:sp>
        <p:nvSpPr>
          <p:cNvPr id="5" name="Terminal card"/>
          <p:cNvSpPr/>
          <p:nvPr/>
        </p:nvSpPr>
        <p:spPr>
          <a:xfrm>
            <a:off x="7589520" y="182880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rminal dot 1"/>
          <p:cNvSpPr/>
          <p:nvPr/>
        </p:nvSpPr>
        <p:spPr>
          <a:xfrm>
            <a:off x="7863840" y="21031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rminal dot 2"/>
          <p:cNvSpPr/>
          <p:nvPr/>
        </p:nvSpPr>
        <p:spPr>
          <a:xfrm>
            <a:off x="8138160" y="210312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rminal dot 3"/>
          <p:cNvSpPr/>
          <p:nvPr/>
        </p:nvSpPr>
        <p:spPr>
          <a:xfrm>
            <a:off x="8412480" y="2103120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rminal text"/>
          <p:cNvSpPr txBox="1"/>
          <p:nvPr/>
        </p:nvSpPr>
        <p:spPr>
          <a:xfrm>
            <a:off x="7863840" y="26517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git init chatfs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git add 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 git commit -m "chat"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[main] chat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where we started</a:t>
            </a:r>
            <a:endParaRPr lang="en-US" sz="3600" dirty="0"/>
          </a:p>
        </p:txBody>
      </p:sp>
      <p:sp>
        <p:nvSpPr>
          <p:cNvPr id="3" name="Before card"/>
          <p:cNvSpPr/>
          <p:nvPr/>
        </p:nvSpPr>
        <p:spPr>
          <a:xfrm>
            <a:off x="640080" y="1645920"/>
            <a:ext cx="53035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Before heading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</a:rPr>
              <a:t>v0: one shared room</a:t>
            </a:r>
            <a:endParaRPr lang="en-US" sz="2400" dirty="0"/>
          </a:p>
        </p:txBody>
      </p:sp>
      <p:sp>
        <p:nvSpPr>
          <p:cNvPr id="5" name="Before list"/>
          <p:cNvSpPr txBox="1"/>
          <p:nvPr/>
        </p:nvSpPr>
        <p:spPr>
          <a:xfrm>
            <a:off x="1005840" y="27432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Everyone sees every message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Type any name and you are that person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No login, so no way to tell who is who</a:t>
            </a:r>
            <a:endParaRPr lang="en-US" sz="1800" dirty="0"/>
          </a:p>
        </p:txBody>
      </p:sp>
      <p:sp>
        <p:nvSpPr>
          <p:cNvPr id="6" name="After card"/>
          <p:cNvSpPr/>
          <p:nvPr/>
        </p:nvSpPr>
        <p:spPr>
          <a:xfrm>
            <a:off x="6245352" y="1645920"/>
            <a:ext cx="53035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After heading"/>
          <p:cNvSpPr txBox="1"/>
          <p:nvPr/>
        </p:nvSpPr>
        <p:spPr>
          <a:xfrm>
            <a:off x="6611112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v1: CHATFS</a:t>
            </a:r>
            <a:endParaRPr lang="en-US" sz="2400" dirty="0"/>
          </a:p>
        </p:txBody>
      </p:sp>
      <p:sp>
        <p:nvSpPr>
          <p:cNvPr id="8" name="After list"/>
          <p:cNvSpPr txBox="1"/>
          <p:nvPr/>
        </p:nvSpPr>
        <p:spPr>
          <a:xfrm>
            <a:off x="6611112" y="27432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One account per person, protected by a password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private thread for every pair, plus group chats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Only the people in a thread can read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built</a:t>
            </a:r>
            <a:endParaRPr lang="en-US" sz="3600" dirty="0"/>
          </a:p>
        </p:txBody>
      </p:sp>
      <p:sp>
        <p:nvSpPr>
          <p:cNvPr id="3" name="Feature card 1"/>
          <p:cNvSpPr/>
          <p:nvPr/>
        </p:nvSpPr>
        <p:spPr>
          <a:xfrm>
            <a:off x="640080" y="1645920"/>
            <a:ext cx="3456432" cy="3566160"/>
          </a:xfrm>
          <a:prstGeom prst="roundRect">
            <a:avLst>
              <a:gd name="adj" fmla="val 317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Real accounts badge"/>
          <p:cNvSpPr/>
          <p:nvPr/>
        </p:nvSpPr>
        <p:spPr>
          <a:xfrm>
            <a:off x="1005840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al accounts icon" descr="Real accou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240280"/>
            <a:ext cx="457200" cy="457200"/>
          </a:xfrm>
          <a:prstGeom prst="rect">
            <a:avLst/>
          </a:prstGeom>
        </p:spPr>
      </p:pic>
      <p:sp>
        <p:nvSpPr>
          <p:cNvPr id="6" name="Real accounts heading"/>
          <p:cNvSpPr txBox="1"/>
          <p:nvPr/>
        </p:nvSpPr>
        <p:spPr>
          <a:xfrm>
            <a:off x="10058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Real accounts</a:t>
            </a:r>
            <a:endParaRPr lang="en-US" sz="2400" dirty="0"/>
          </a:p>
        </p:txBody>
      </p:sp>
      <p:sp>
        <p:nvSpPr>
          <p:cNvPr id="7" name="Real accounts text"/>
          <p:cNvSpPr txBox="1"/>
          <p:nvPr/>
        </p:nvSpPr>
        <p:spPr>
          <a:xfrm>
            <a:off x="1005840" y="39319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Register, log in and log out. Usernames are unique and passwords are hashed.</a:t>
            </a:r>
            <a:endParaRPr lang="en-US" sz="1600" dirty="0"/>
          </a:p>
        </p:txBody>
      </p:sp>
      <p:sp>
        <p:nvSpPr>
          <p:cNvPr id="8" name="Feature card 2"/>
          <p:cNvSpPr/>
          <p:nvPr/>
        </p:nvSpPr>
        <p:spPr>
          <a:xfrm>
            <a:off x="4370832" y="1645920"/>
            <a:ext cx="3456432" cy="3566160"/>
          </a:xfrm>
          <a:prstGeom prst="roundRect">
            <a:avLst>
              <a:gd name="adj" fmla="val 317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Private by design badge"/>
          <p:cNvSpPr/>
          <p:nvPr/>
        </p:nvSpPr>
        <p:spPr>
          <a:xfrm>
            <a:off x="4736592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ivate by design icon" descr="Private by des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240280"/>
            <a:ext cx="457200" cy="457200"/>
          </a:xfrm>
          <a:prstGeom prst="rect">
            <a:avLst/>
          </a:prstGeom>
        </p:spPr>
      </p:pic>
      <p:sp>
        <p:nvSpPr>
          <p:cNvPr id="11" name="Private by design heading"/>
          <p:cNvSpPr txBox="1"/>
          <p:nvPr/>
        </p:nvSpPr>
        <p:spPr>
          <a:xfrm>
            <a:off x="4736592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Private by design</a:t>
            </a:r>
            <a:endParaRPr lang="en-US" sz="2400" dirty="0"/>
          </a:p>
        </p:txBody>
      </p:sp>
      <p:sp>
        <p:nvSpPr>
          <p:cNvPr id="12" name="Private by design text"/>
          <p:cNvSpPr txBox="1"/>
          <p:nvPr/>
        </p:nvSpPr>
        <p:spPr>
          <a:xfrm>
            <a:off x="4736592" y="39319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Talk one to one or start a group. Only the members of a thread can open it.</a:t>
            </a:r>
            <a:endParaRPr lang="en-US" sz="1600" dirty="0"/>
          </a:p>
        </p:txBody>
      </p:sp>
      <p:sp>
        <p:nvSpPr>
          <p:cNvPr id="13" name="Feature card 3"/>
          <p:cNvSpPr/>
          <p:nvPr/>
        </p:nvSpPr>
        <p:spPr>
          <a:xfrm>
            <a:off x="8101584" y="1645920"/>
            <a:ext cx="3456432" cy="3566160"/>
          </a:xfrm>
          <a:prstGeom prst="roundRect">
            <a:avLst>
              <a:gd name="adj" fmla="val 317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Feels live badge"/>
          <p:cNvSpPr/>
          <p:nvPr/>
        </p:nvSpPr>
        <p:spPr>
          <a:xfrm>
            <a:off x="8467344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Feels live icon" descr="Feels l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240280"/>
            <a:ext cx="457200" cy="457200"/>
          </a:xfrm>
          <a:prstGeom prst="rect">
            <a:avLst/>
          </a:prstGeom>
        </p:spPr>
      </p:pic>
      <p:sp>
        <p:nvSpPr>
          <p:cNvPr id="16" name="Feels live heading"/>
          <p:cNvSpPr txBox="1"/>
          <p:nvPr/>
        </p:nvSpPr>
        <p:spPr>
          <a:xfrm>
            <a:off x="8467344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Feels live</a:t>
            </a:r>
            <a:endParaRPr lang="en-US" sz="2400" dirty="0"/>
          </a:p>
        </p:txBody>
      </p:sp>
      <p:sp>
        <p:nvSpPr>
          <p:cNvPr id="17" name="Feels live text"/>
          <p:cNvSpPr txBox="1"/>
          <p:nvPr/>
        </p:nvSpPr>
        <p:spPr>
          <a:xfrm>
            <a:off x="8467344" y="39319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Messages show up within two seconds, and the sidebar keeps previews fresh.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1 circle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Step arrow 1"/>
          <p:cNvSpPr/>
          <p:nvPr/>
        </p:nvSpPr>
        <p:spPr>
          <a:xfrm>
            <a:off x="1737360" y="2194560"/>
            <a:ext cx="13716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6" name="Step 1 title"/>
          <p:cNvSpPr txBox="1"/>
          <p:nvPr/>
        </p:nvSpPr>
        <p:spPr>
          <a:xfrm>
            <a:off x="6400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Register</a:t>
            </a:r>
            <a:endParaRPr lang="en-US" sz="2200" dirty="0"/>
          </a:p>
        </p:txBody>
      </p:sp>
      <p:sp>
        <p:nvSpPr>
          <p:cNvPr id="7" name="Step 1 text"/>
          <p:cNvSpPr txBox="1"/>
          <p:nvPr/>
        </p:nvSpPr>
        <p:spPr>
          <a:xfrm>
            <a:off x="640080" y="34747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Choose a username and a password of 8+ characters.</a:t>
            </a:r>
            <a:endParaRPr lang="en-US" sz="1600" dirty="0"/>
          </a:p>
        </p:txBody>
      </p:sp>
      <p:sp>
        <p:nvSpPr>
          <p:cNvPr id="8" name="Step 2 circle"/>
          <p:cNvSpPr/>
          <p:nvPr/>
        </p:nvSpPr>
        <p:spPr>
          <a:xfrm>
            <a:off x="3456432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3456432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Step arrow 2"/>
          <p:cNvSpPr/>
          <p:nvPr/>
        </p:nvSpPr>
        <p:spPr>
          <a:xfrm>
            <a:off x="4553712" y="2194560"/>
            <a:ext cx="13716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Step 2 title"/>
          <p:cNvSpPr txBox="1"/>
          <p:nvPr/>
        </p:nvSpPr>
        <p:spPr>
          <a:xfrm>
            <a:off x="3456432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Log in</a:t>
            </a:r>
            <a:endParaRPr lang="en-US" sz="2200" dirty="0"/>
          </a:p>
        </p:txBody>
      </p:sp>
      <p:sp>
        <p:nvSpPr>
          <p:cNvPr id="12" name="Step 2 text"/>
          <p:cNvSpPr txBox="1"/>
          <p:nvPr/>
        </p:nvSpPr>
        <p:spPr>
          <a:xfrm>
            <a:off x="3456432" y="34747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signed session cookie keeps you signed in for 30 days.</a:t>
            </a:r>
            <a:endParaRPr lang="en-US" sz="1600" dirty="0"/>
          </a:p>
        </p:txBody>
      </p:sp>
      <p:sp>
        <p:nvSpPr>
          <p:cNvPr id="13" name="Step 3 circle"/>
          <p:cNvSpPr/>
          <p:nvPr/>
        </p:nvSpPr>
        <p:spPr>
          <a:xfrm>
            <a:off x="6272784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272784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Step arrow 3"/>
          <p:cNvSpPr/>
          <p:nvPr/>
        </p:nvSpPr>
        <p:spPr>
          <a:xfrm>
            <a:off x="7370064" y="2194560"/>
            <a:ext cx="13716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6" name="Step 3 title"/>
          <p:cNvSpPr txBox="1"/>
          <p:nvPr/>
        </p:nvSpPr>
        <p:spPr>
          <a:xfrm>
            <a:off x="6272784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Pick someone</a:t>
            </a:r>
            <a:endParaRPr lang="en-US" sz="2200" dirty="0"/>
          </a:p>
        </p:txBody>
      </p:sp>
      <p:sp>
        <p:nvSpPr>
          <p:cNvPr id="17" name="Step 3 text"/>
          <p:cNvSpPr txBox="1"/>
          <p:nvPr/>
        </p:nvSpPr>
        <p:spPr>
          <a:xfrm>
            <a:off x="6272784" y="34747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Search the sidebar, or start a group with a few friends.</a:t>
            </a:r>
            <a:endParaRPr lang="en-US" sz="1600" dirty="0"/>
          </a:p>
        </p:txBody>
      </p:sp>
      <p:sp>
        <p:nvSpPr>
          <p:cNvPr id="18" name="Step 4 circle"/>
          <p:cNvSpPr/>
          <p:nvPr/>
        </p:nvSpPr>
        <p:spPr>
          <a:xfrm>
            <a:off x="9089136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9089136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</a:t>
            </a:r>
            <a:endParaRPr lang="en-US" sz="3200" dirty="0"/>
          </a:p>
        </p:txBody>
      </p:sp>
      <p:sp>
        <p:nvSpPr>
          <p:cNvPr id="20" name="Step 4 title"/>
          <p:cNvSpPr txBox="1"/>
          <p:nvPr/>
        </p:nvSpPr>
        <p:spPr>
          <a:xfrm>
            <a:off x="9089136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Chat</a:t>
            </a:r>
            <a:endParaRPr lang="en-US" sz="2200" dirty="0"/>
          </a:p>
        </p:txBody>
      </p:sp>
      <p:sp>
        <p:nvSpPr>
          <p:cNvPr id="21" name="Step 4 text"/>
          <p:cNvSpPr txBox="1"/>
          <p:nvPr/>
        </p:nvSpPr>
        <p:spPr>
          <a:xfrm>
            <a:off x="9089136" y="347472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Your message lands in a thread only its members can see.</a:t>
            </a:r>
            <a:endParaRPr lang="en-US" sz="1600" dirty="0"/>
          </a:p>
        </p:txBody>
      </p:sp>
      <p:sp>
        <p:nvSpPr>
          <p:cNvPr id="22" name="Live strip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Live strip badge"/>
          <p:cNvSpPr/>
          <p:nvPr/>
        </p:nvSpPr>
        <p:spPr>
          <a:xfrm>
            <a:off x="914400" y="5166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Live strip icon" descr="Live str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5314950"/>
            <a:ext cx="297180" cy="297180"/>
          </a:xfrm>
          <a:prstGeom prst="rect">
            <a:avLst/>
          </a:prstGeom>
        </p:spPr>
      </p:pic>
      <p:sp>
        <p:nvSpPr>
          <p:cNvPr id="25" name="Live strip text"/>
          <p:cNvSpPr txBox="1"/>
          <p:nvPr/>
        </p:nvSpPr>
        <p:spPr>
          <a:xfrm>
            <a:off x="1783080" y="502920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 page refresh: HTMX asks the server for new messages every two seconds.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security basics</a:t>
            </a:r>
            <a:endParaRPr lang="en-US" sz="3600" dirty="0"/>
          </a:p>
        </p:txBody>
      </p:sp>
      <p:sp>
        <p:nvSpPr>
          <p:cNvPr id="3" name="Hashed passwords card"/>
          <p:cNvSpPr/>
          <p:nvPr/>
        </p:nvSpPr>
        <p:spPr>
          <a:xfrm>
            <a:off x="640080" y="1645920"/>
            <a:ext cx="345643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Hashed passwords badge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ashed passwords icon" descr="Hashed pass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80260"/>
            <a:ext cx="320040" cy="320040"/>
          </a:xfrm>
          <a:prstGeom prst="rect">
            <a:avLst/>
          </a:prstGeom>
        </p:spPr>
      </p:pic>
      <p:sp>
        <p:nvSpPr>
          <p:cNvPr id="6" name="Hashed passwords heading"/>
          <p:cNvSpPr txBox="1"/>
          <p:nvPr/>
        </p:nvSpPr>
        <p:spPr>
          <a:xfrm>
            <a:off x="173736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Hashed passwords</a:t>
            </a:r>
            <a:endParaRPr lang="en-US" sz="2000" dirty="0"/>
          </a:p>
        </p:txBody>
      </p:sp>
      <p:sp>
        <p:nvSpPr>
          <p:cNvPr id="7" name="Hashed passwords text"/>
          <p:cNvSpPr txBox="1"/>
          <p:nvPr/>
        </p:nvSpPr>
        <p:spPr>
          <a:xfrm>
            <a:off x="91440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Salted scrypt. Plain text is never stored.</a:t>
            </a:r>
            <a:endParaRPr lang="en-US" sz="1400" dirty="0"/>
          </a:p>
        </p:txBody>
      </p:sp>
      <p:sp>
        <p:nvSpPr>
          <p:cNvPr id="8" name="Login throttle card"/>
          <p:cNvSpPr/>
          <p:nvPr/>
        </p:nvSpPr>
        <p:spPr>
          <a:xfrm>
            <a:off x="4370832" y="1645920"/>
            <a:ext cx="345643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Login throttle badge"/>
          <p:cNvSpPr/>
          <p:nvPr/>
        </p:nvSpPr>
        <p:spPr>
          <a:xfrm>
            <a:off x="4645152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ogin throttle icon" descr="Login throt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080260"/>
            <a:ext cx="320040" cy="320040"/>
          </a:xfrm>
          <a:prstGeom prst="rect">
            <a:avLst/>
          </a:prstGeom>
        </p:spPr>
      </p:pic>
      <p:sp>
        <p:nvSpPr>
          <p:cNvPr id="11" name="Login throttle heading"/>
          <p:cNvSpPr txBox="1"/>
          <p:nvPr/>
        </p:nvSpPr>
        <p:spPr>
          <a:xfrm>
            <a:off x="5468112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Login throttle</a:t>
            </a:r>
            <a:endParaRPr lang="en-US" sz="2000" dirty="0"/>
          </a:p>
        </p:txBody>
      </p:sp>
      <p:sp>
        <p:nvSpPr>
          <p:cNvPr id="12" name="Login throttle text"/>
          <p:cNvSpPr txBox="1"/>
          <p:nvPr/>
        </p:nvSpPr>
        <p:spPr>
          <a:xfrm>
            <a:off x="4645152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5 failed tries in 5 minutes, then a timeout.</a:t>
            </a:r>
            <a:endParaRPr lang="en-US" sz="1400" dirty="0"/>
          </a:p>
        </p:txBody>
      </p:sp>
      <p:sp>
        <p:nvSpPr>
          <p:cNvPr id="13" name="Safe sessions card"/>
          <p:cNvSpPr/>
          <p:nvPr/>
        </p:nvSpPr>
        <p:spPr>
          <a:xfrm>
            <a:off x="8101584" y="1645920"/>
            <a:ext cx="345643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Safe sessions badge"/>
          <p:cNvSpPr/>
          <p:nvPr/>
        </p:nvSpPr>
        <p:spPr>
          <a:xfrm>
            <a:off x="8375904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afe sessions icon" descr="Safe sess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924" y="2080260"/>
            <a:ext cx="320040" cy="320040"/>
          </a:xfrm>
          <a:prstGeom prst="rect">
            <a:avLst/>
          </a:prstGeom>
        </p:spPr>
      </p:pic>
      <p:sp>
        <p:nvSpPr>
          <p:cNvPr id="16" name="Safe sessions heading"/>
          <p:cNvSpPr txBox="1"/>
          <p:nvPr/>
        </p:nvSpPr>
        <p:spPr>
          <a:xfrm>
            <a:off x="9198864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Safe sessions</a:t>
            </a:r>
            <a:endParaRPr lang="en-US" sz="2000" dirty="0"/>
          </a:p>
        </p:txBody>
      </p:sp>
      <p:sp>
        <p:nvSpPr>
          <p:cNvPr id="17" name="Safe sessions text"/>
          <p:cNvSpPr txBox="1"/>
          <p:nvPr/>
        </p:nvSpPr>
        <p:spPr>
          <a:xfrm>
            <a:off x="8375904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Signed cookie and a fresh session on every login.</a:t>
            </a:r>
            <a:endParaRPr lang="en-US" sz="1400" dirty="0"/>
          </a:p>
        </p:txBody>
      </p:sp>
      <p:sp>
        <p:nvSpPr>
          <p:cNvPr id="18" name="No spoofing card"/>
          <p:cNvSpPr/>
          <p:nvPr/>
        </p:nvSpPr>
        <p:spPr>
          <a:xfrm>
            <a:off x="640080" y="3840480"/>
            <a:ext cx="345643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No spoofing badge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No spoofing icon" descr="No spoof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274820"/>
            <a:ext cx="320040" cy="320040"/>
          </a:xfrm>
          <a:prstGeom prst="rect">
            <a:avLst/>
          </a:prstGeom>
        </p:spPr>
      </p:pic>
      <p:sp>
        <p:nvSpPr>
          <p:cNvPr id="21" name="No spoofing heading"/>
          <p:cNvSpPr txBox="1"/>
          <p:nvPr/>
        </p:nvSpPr>
        <p:spPr>
          <a:xfrm>
            <a:off x="1737360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spoofing</a:t>
            </a:r>
            <a:endParaRPr lang="en-US" sz="2000" dirty="0"/>
          </a:p>
        </p:txBody>
      </p:sp>
      <p:sp>
        <p:nvSpPr>
          <p:cNvPr id="22" name="No spoofing text"/>
          <p:cNvSpPr txBox="1"/>
          <p:nvPr/>
        </p:nvSpPr>
        <p:spPr>
          <a:xfrm>
            <a:off x="914400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sender comes from your session, not the form.</a:t>
            </a:r>
            <a:endParaRPr lang="en-US" sz="1400" dirty="0"/>
          </a:p>
        </p:txBody>
      </p:sp>
      <p:sp>
        <p:nvSpPr>
          <p:cNvPr id="23" name="Scoped queries card"/>
          <p:cNvSpPr/>
          <p:nvPr/>
        </p:nvSpPr>
        <p:spPr>
          <a:xfrm>
            <a:off x="4370832" y="3840480"/>
            <a:ext cx="345643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Scoped queries badge"/>
          <p:cNvSpPr/>
          <p:nvPr/>
        </p:nvSpPr>
        <p:spPr>
          <a:xfrm>
            <a:off x="4645152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coped queries icon" descr="Scoped queri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4274820"/>
            <a:ext cx="320040" cy="320040"/>
          </a:xfrm>
          <a:prstGeom prst="rect">
            <a:avLst/>
          </a:prstGeom>
        </p:spPr>
      </p:pic>
      <p:sp>
        <p:nvSpPr>
          <p:cNvPr id="26" name="Scoped queries heading"/>
          <p:cNvSpPr txBox="1"/>
          <p:nvPr/>
        </p:nvSpPr>
        <p:spPr>
          <a:xfrm>
            <a:off x="5468112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Scoped queries</a:t>
            </a:r>
            <a:endParaRPr lang="en-US" sz="2000" dirty="0"/>
          </a:p>
        </p:txBody>
      </p:sp>
      <p:sp>
        <p:nvSpPr>
          <p:cNvPr id="27" name="Scoped queries text"/>
          <p:cNvSpPr txBox="1"/>
          <p:nvPr/>
        </p:nvSpPr>
        <p:spPr>
          <a:xfrm>
            <a:off x="4645152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thread only returns messages to its own members.</a:t>
            </a:r>
            <a:endParaRPr lang="en-US" sz="1400" dirty="0"/>
          </a:p>
        </p:txBody>
      </p:sp>
      <p:sp>
        <p:nvSpPr>
          <p:cNvPr id="28" name="Escaped output card"/>
          <p:cNvSpPr/>
          <p:nvPr/>
        </p:nvSpPr>
        <p:spPr>
          <a:xfrm>
            <a:off x="8101584" y="3840480"/>
            <a:ext cx="3456432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Escaped output badge"/>
          <p:cNvSpPr/>
          <p:nvPr/>
        </p:nvSpPr>
        <p:spPr>
          <a:xfrm>
            <a:off x="8375904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Escaped output icon" descr="Escaped outpu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924" y="4274820"/>
            <a:ext cx="320040" cy="320040"/>
          </a:xfrm>
          <a:prstGeom prst="rect">
            <a:avLst/>
          </a:prstGeom>
        </p:spPr>
      </p:pic>
      <p:sp>
        <p:nvSpPr>
          <p:cNvPr id="31" name="Escaped output heading"/>
          <p:cNvSpPr txBox="1"/>
          <p:nvPr/>
        </p:nvSpPr>
        <p:spPr>
          <a:xfrm>
            <a:off x="9198864" y="4114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Escaped output</a:t>
            </a:r>
            <a:endParaRPr lang="en-US" sz="2000" dirty="0"/>
          </a:p>
        </p:txBody>
      </p:sp>
      <p:sp>
        <p:nvSpPr>
          <p:cNvPr id="32" name="Escaped output text"/>
          <p:cNvSpPr txBox="1"/>
          <p:nvPr/>
        </p:nvSpPr>
        <p:spPr>
          <a:xfrm>
            <a:off x="8375904" y="4937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Message text is escaped, so no HTML injection.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3" name="Browser box"/>
          <p:cNvSpPr/>
          <p:nvPr/>
        </p:nvSpPr>
        <p:spPr>
          <a:xfrm>
            <a:off x="640080" y="1645920"/>
            <a:ext cx="30175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Browser title"/>
          <p:cNvSpPr txBox="1"/>
          <p:nvPr/>
        </p:nvSpPr>
        <p:spPr>
          <a:xfrm>
            <a:off x="91440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Browser</a:t>
            </a:r>
            <a:endParaRPr lang="en-US" sz="2400" dirty="0"/>
          </a:p>
        </p:txBody>
      </p:sp>
      <p:sp>
        <p:nvSpPr>
          <p:cNvPr id="5" name="Browser text"/>
          <p:cNvSpPr txBox="1"/>
          <p:nvPr/>
        </p:nvSpPr>
        <p:spPr>
          <a:xfrm>
            <a:off x="91440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HTMX, polls every 2s</a:t>
            </a:r>
            <a:endParaRPr lang="en-US" sz="1600" dirty="0"/>
          </a:p>
        </p:txBody>
      </p:sp>
      <p:sp>
        <p:nvSpPr>
          <p:cNvPr id="6" name="Arrow 1"/>
          <p:cNvSpPr/>
          <p:nvPr/>
        </p:nvSpPr>
        <p:spPr>
          <a:xfrm>
            <a:off x="3749040" y="242316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7" name="FastHTML box"/>
          <p:cNvSpPr/>
          <p:nvPr/>
        </p:nvSpPr>
        <p:spPr>
          <a:xfrm>
            <a:off x="4572000" y="1645920"/>
            <a:ext cx="30175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FastHTML title"/>
          <p:cNvSpPr txBox="1"/>
          <p:nvPr/>
        </p:nvSpPr>
        <p:spPr>
          <a:xfrm>
            <a:off x="48463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FastHTML</a:t>
            </a:r>
            <a:endParaRPr lang="en-US" sz="2400" dirty="0"/>
          </a:p>
        </p:txBody>
      </p:sp>
      <p:sp>
        <p:nvSpPr>
          <p:cNvPr id="9" name="FastHTML text"/>
          <p:cNvSpPr txBox="1"/>
          <p:nvPr/>
        </p:nvSpPr>
        <p:spPr>
          <a:xfrm>
            <a:off x="484632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Auth middleware and routes</a:t>
            </a:r>
            <a:endParaRPr lang="en-US" sz="1600" dirty="0"/>
          </a:p>
        </p:txBody>
      </p:sp>
      <p:sp>
        <p:nvSpPr>
          <p:cNvPr id="10" name="Arrow 2"/>
          <p:cNvSpPr/>
          <p:nvPr/>
        </p:nvSpPr>
        <p:spPr>
          <a:xfrm>
            <a:off x="7680960" y="242316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11" name="SQLite box"/>
          <p:cNvSpPr/>
          <p:nvPr/>
        </p:nvSpPr>
        <p:spPr>
          <a:xfrm>
            <a:off x="8503920" y="1645920"/>
            <a:ext cx="30175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QLite title"/>
          <p:cNvSpPr txBox="1"/>
          <p:nvPr/>
        </p:nvSpPr>
        <p:spPr>
          <a:xfrm>
            <a:off x="87782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SQLite</a:t>
            </a:r>
            <a:endParaRPr lang="en-US" sz="2400" dirty="0"/>
          </a:p>
        </p:txBody>
      </p:sp>
      <p:sp>
        <p:nvSpPr>
          <p:cNvPr id="13" name="SQLite text"/>
          <p:cNvSpPr txBox="1"/>
          <p:nvPr/>
        </p:nvSpPr>
        <p:spPr>
          <a:xfrm>
            <a:off x="877824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Five small tables</a:t>
            </a:r>
            <a:endParaRPr lang="en-US" sz="1600" dirty="0"/>
          </a:p>
        </p:txBody>
      </p:sp>
      <p:sp>
        <p:nvSpPr>
          <p:cNvPr id="14" name="users table card"/>
          <p:cNvSpPr/>
          <p:nvPr/>
        </p:nvSpPr>
        <p:spPr>
          <a:xfrm>
            <a:off x="640080" y="3611880"/>
            <a:ext cx="3456432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users table name"/>
          <p:cNvSpPr txBox="1"/>
          <p:nvPr/>
        </p:nvSpPr>
        <p:spPr>
          <a:xfrm>
            <a:off x="10058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users</a:t>
            </a:r>
            <a:endParaRPr lang="en-US" sz="1800" dirty="0"/>
          </a:p>
        </p:txBody>
      </p:sp>
      <p:sp>
        <p:nvSpPr>
          <p:cNvPr id="16" name="users fields"/>
          <p:cNvSpPr txBox="1"/>
          <p:nvPr/>
        </p:nvSpPr>
        <p:spPr>
          <a:xfrm>
            <a:off x="1005840" y="4251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name (unique)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passhash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created</a:t>
            </a:r>
            <a:endParaRPr lang="en-US" sz="1400" dirty="0"/>
          </a:p>
        </p:txBody>
      </p:sp>
      <p:sp>
        <p:nvSpPr>
          <p:cNvPr id="17" name="messages table card"/>
          <p:cNvSpPr/>
          <p:nvPr/>
        </p:nvSpPr>
        <p:spPr>
          <a:xfrm>
            <a:off x="4370832" y="3611880"/>
            <a:ext cx="3456432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messages table name"/>
          <p:cNvSpPr txBox="1"/>
          <p:nvPr/>
        </p:nvSpPr>
        <p:spPr>
          <a:xfrm>
            <a:off x="4736592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messages</a:t>
            </a:r>
            <a:endParaRPr lang="en-US" sz="1800" dirty="0"/>
          </a:p>
        </p:txBody>
      </p:sp>
      <p:sp>
        <p:nvSpPr>
          <p:cNvPr id="19" name="messages fields"/>
          <p:cNvSpPr txBox="1"/>
          <p:nvPr/>
        </p:nvSpPr>
        <p:spPr>
          <a:xfrm>
            <a:off x="4736592" y="4251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sender_id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receiver_id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body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ts</a:t>
            </a:r>
            <a:endParaRPr lang="en-US" sz="1400" dirty="0"/>
          </a:p>
        </p:txBody>
      </p:sp>
      <p:sp>
        <p:nvSpPr>
          <p:cNvPr id="20" name="group tables table card"/>
          <p:cNvSpPr/>
          <p:nvPr/>
        </p:nvSpPr>
        <p:spPr>
          <a:xfrm>
            <a:off x="8101584" y="3611880"/>
            <a:ext cx="3456432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group tables table name"/>
          <p:cNvSpPr txBox="1"/>
          <p:nvPr/>
        </p:nvSpPr>
        <p:spPr>
          <a:xfrm>
            <a:off x="8467344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group tables</a:t>
            </a:r>
            <a:endParaRPr lang="en-US" sz="1800" dirty="0"/>
          </a:p>
        </p:txBody>
      </p:sp>
      <p:sp>
        <p:nvSpPr>
          <p:cNvPr id="22" name="group tables fields"/>
          <p:cNvSpPr txBox="1"/>
          <p:nvPr/>
        </p:nvSpPr>
        <p:spPr>
          <a:xfrm>
            <a:off x="8467344" y="4251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groups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group_members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group_messages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small and simple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640080" y="1645920"/>
            <a:ext cx="2523744" cy="320040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tat 1 number"/>
          <p:cNvSpPr txBox="1"/>
          <p:nvPr/>
        </p:nvSpPr>
        <p:spPr>
          <a:xfrm>
            <a:off x="91440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Stat 1 label"/>
          <p:cNvSpPr txBox="1"/>
          <p:nvPr/>
        </p:nvSpPr>
        <p:spPr>
          <a:xfrm>
            <a:off x="91440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pip install</a:t>
            </a:r>
            <a:endParaRPr lang="en-US" sz="2000" dirty="0"/>
          </a:p>
        </p:txBody>
      </p:sp>
      <p:sp>
        <p:nvSpPr>
          <p:cNvPr id="6" name="Stat 1 text"/>
          <p:cNvSpPr txBox="1"/>
          <p:nvPr/>
        </p:nvSpPr>
        <p:spPr>
          <a:xfrm>
            <a:off x="914400" y="3794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python-fasthtml is the only dependency.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438144" y="1645920"/>
            <a:ext cx="2523744" cy="320040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at 2 number"/>
          <p:cNvSpPr txBox="1"/>
          <p:nvPr/>
        </p:nvSpPr>
        <p:spPr>
          <a:xfrm>
            <a:off x="3712464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6000" dirty="0"/>
          </a:p>
        </p:txBody>
      </p:sp>
      <p:sp>
        <p:nvSpPr>
          <p:cNvPr id="9" name="Stat 2 label"/>
          <p:cNvSpPr txBox="1"/>
          <p:nvPr/>
        </p:nvSpPr>
        <p:spPr>
          <a:xfrm>
            <a:off x="3712464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database tables</a:t>
            </a:r>
            <a:endParaRPr lang="en-US" sz="2000" dirty="0"/>
          </a:p>
        </p:txBody>
      </p:sp>
      <p:sp>
        <p:nvSpPr>
          <p:cNvPr id="10" name="Stat 2 text"/>
          <p:cNvSpPr txBox="1"/>
          <p:nvPr/>
        </p:nvSpPr>
        <p:spPr>
          <a:xfrm>
            <a:off x="3712464" y="3794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Users, direct messages and three for groups.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236208" y="1645920"/>
            <a:ext cx="2523744" cy="320040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tat 3 number"/>
          <p:cNvSpPr txBox="1"/>
          <p:nvPr/>
        </p:nvSpPr>
        <p:spPr>
          <a:xfrm>
            <a:off x="6510528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2s</a:t>
            </a:r>
            <a:endParaRPr lang="en-US" sz="6000" dirty="0"/>
          </a:p>
        </p:txBody>
      </p:sp>
      <p:sp>
        <p:nvSpPr>
          <p:cNvPr id="13" name="Stat 3 label"/>
          <p:cNvSpPr txBox="1"/>
          <p:nvPr/>
        </p:nvSpPr>
        <p:spPr>
          <a:xfrm>
            <a:off x="6510528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 a new message</a:t>
            </a:r>
            <a:endParaRPr lang="en-US" sz="2000" dirty="0"/>
          </a:p>
        </p:txBody>
      </p:sp>
      <p:sp>
        <p:nvSpPr>
          <p:cNvPr id="14" name="Stat 3 text"/>
          <p:cNvSpPr txBox="1"/>
          <p:nvPr/>
        </p:nvSpPr>
        <p:spPr>
          <a:xfrm>
            <a:off x="6510528" y="3794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HTMX polling, with no websocket setup.</a:t>
            </a:r>
            <a:endParaRPr lang="en-US" sz="1400" dirty="0"/>
          </a:p>
        </p:txBody>
      </p:sp>
      <p:sp>
        <p:nvSpPr>
          <p:cNvPr id="15" name="Stat card 4"/>
          <p:cNvSpPr/>
          <p:nvPr/>
        </p:nvSpPr>
        <p:spPr>
          <a:xfrm>
            <a:off x="9034272" y="1645920"/>
            <a:ext cx="2523744" cy="320040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tat 4 number"/>
          <p:cNvSpPr txBox="1"/>
          <p:nvPr/>
        </p:nvSpPr>
        <p:spPr>
          <a:xfrm>
            <a:off x="9308592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~650</a:t>
            </a:r>
            <a:endParaRPr lang="en-US" sz="6000" dirty="0"/>
          </a:p>
        </p:txBody>
      </p:sp>
      <p:sp>
        <p:nvSpPr>
          <p:cNvPr id="17" name="Stat 4 label"/>
          <p:cNvSpPr txBox="1"/>
          <p:nvPr/>
        </p:nvSpPr>
        <p:spPr>
          <a:xfrm>
            <a:off x="9308592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lines of Python</a:t>
            </a:r>
            <a:endParaRPr lang="en-US" sz="2000" dirty="0"/>
          </a:p>
        </p:txBody>
      </p:sp>
      <p:sp>
        <p:nvSpPr>
          <p:cNvPr id="18" name="Stat 4 text"/>
          <p:cNvSpPr txBox="1"/>
          <p:nvPr/>
        </p:nvSpPr>
        <p:spPr>
          <a:xfrm>
            <a:off x="9308592" y="3794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Auth, chat and UI in a single file.</a:t>
            </a:r>
            <a:endParaRPr lang="en-US" sz="1400" dirty="0"/>
          </a:p>
        </p:txBody>
      </p:sp>
      <p:sp>
        <p:nvSpPr>
          <p:cNvPr id="19" name="Stack line"/>
          <p:cNvSpPr txBox="1"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Python  ·  FastHTML  ·  HTMX  ·  SQLite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what's next</a:t>
            </a:r>
            <a:endParaRPr lang="en-US" sz="3600" dirty="0"/>
          </a:p>
        </p:txBody>
      </p:sp>
      <p:sp>
        <p:nvSpPr>
          <p:cNvPr id="3" name="shipped card"/>
          <p:cNvSpPr/>
          <p:nvPr/>
        </p:nvSpPr>
        <p:spPr>
          <a:xfrm>
            <a:off x="640080" y="1645920"/>
            <a:ext cx="3456432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ipped chip"/>
          <p:cNvSpPr/>
          <p:nvPr/>
        </p:nvSpPr>
        <p:spPr>
          <a:xfrm>
            <a:off x="1005840" y="2011680"/>
            <a:ext cx="137160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ipped chip text"/>
          <p:cNvSpPr txBox="1"/>
          <p:nvPr/>
        </p:nvSpPr>
        <p:spPr>
          <a:xfrm>
            <a:off x="100584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shipped</a:t>
            </a:r>
            <a:endParaRPr lang="en-US" sz="1600" dirty="0"/>
          </a:p>
        </p:txBody>
      </p:sp>
      <p:sp>
        <p:nvSpPr>
          <p:cNvPr id="6" name="shipped list"/>
          <p:cNvSpPr txBox="1"/>
          <p:nvPr/>
        </p:nvSpPr>
        <p:spPr>
          <a:xfrm>
            <a:off x="1005840" y="2834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Accounts and login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Private 1-to-1 threads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Group chats</a:t>
            </a:r>
            <a:endParaRPr lang="en-US" sz="1800" dirty="0"/>
          </a:p>
        </p:txBody>
      </p:sp>
      <p:sp>
        <p:nvSpPr>
          <p:cNvPr id="7" name="next card"/>
          <p:cNvSpPr/>
          <p:nvPr/>
        </p:nvSpPr>
        <p:spPr>
          <a:xfrm>
            <a:off x="4370832" y="1645920"/>
            <a:ext cx="3456432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next chip"/>
          <p:cNvSpPr/>
          <p:nvPr/>
        </p:nvSpPr>
        <p:spPr>
          <a:xfrm>
            <a:off x="4736592" y="2011680"/>
            <a:ext cx="137160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next chip text"/>
          <p:cNvSpPr txBox="1"/>
          <p:nvPr/>
        </p:nvSpPr>
        <p:spPr>
          <a:xfrm>
            <a:off x="473659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next</a:t>
            </a:r>
            <a:endParaRPr lang="en-US" sz="1600" dirty="0"/>
          </a:p>
        </p:txBody>
      </p:sp>
      <p:sp>
        <p:nvSpPr>
          <p:cNvPr id="10" name="next list"/>
          <p:cNvSpPr txBox="1"/>
          <p:nvPr/>
        </p:nvSpPr>
        <p:spPr>
          <a:xfrm>
            <a:off x="4736592" y="2834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Unread counts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Live delivery with websockets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 people to a group</a:t>
            </a:r>
            <a:endParaRPr lang="en-US" sz="1800" dirty="0"/>
          </a:p>
        </p:txBody>
      </p:sp>
      <p:sp>
        <p:nvSpPr>
          <p:cNvPr id="11" name="later card"/>
          <p:cNvSpPr/>
          <p:nvPr/>
        </p:nvSpPr>
        <p:spPr>
          <a:xfrm>
            <a:off x="8101584" y="1645920"/>
            <a:ext cx="3456432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later chip"/>
          <p:cNvSpPr/>
          <p:nvPr/>
        </p:nvSpPr>
        <p:spPr>
          <a:xfrm>
            <a:off x="8467344" y="2011680"/>
            <a:ext cx="137160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later chip text"/>
          <p:cNvSpPr txBox="1"/>
          <p:nvPr/>
        </p:nvSpPr>
        <p:spPr>
          <a:xfrm>
            <a:off x="8467344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later</a:t>
            </a:r>
            <a:endParaRPr lang="en-US" sz="1600" dirty="0"/>
          </a:p>
        </p:txBody>
      </p:sp>
      <p:sp>
        <p:nvSpPr>
          <p:cNvPr id="14" name="later list"/>
          <p:cNvSpPr txBox="1"/>
          <p:nvPr/>
        </p:nvSpPr>
        <p:spPr>
          <a:xfrm>
            <a:off x="8467344" y="2834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Image and file sharing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Read receipts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End-to-end encryption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TFS logo" descr="CHATF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743200" cy="7132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2860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// </a:t>
            </a:r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questions?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Thanks from first//commit. Try CHATFS with a friend and see the private thread for yourself.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rst-commit">
  <a:themeElements>
    <a:clrScheme name="first-commit">
      <a:dk1>
        <a:srgbClr val="0B0B14"/>
      </a:dk1>
      <a:lt1>
        <a:srgbClr val="F4F4FA"/>
      </a:lt1>
      <a:dk2>
        <a:srgbClr val="171724"/>
      </a:dk2>
      <a:lt2>
        <a:srgbClr val="A3A3BA"/>
      </a:lt2>
      <a:accent1>
        <a:srgbClr val="FF4B4B"/>
      </a:accent1>
      <a:accent2>
        <a:srgbClr val="FFC857"/>
      </a:accent2>
      <a:accent3>
        <a:srgbClr val="3DDC97"/>
      </a:accent3>
      <a:accent4>
        <a:srgbClr val="7C5CFF"/>
      </a:accent4>
      <a:accent5>
        <a:srgbClr val="5C1D16"/>
      </a:accent5>
      <a:accent6>
        <a:srgbClr val="2A2A3D"/>
      </a:accent6>
      <a:hlink>
        <a:srgbClr val="FF4B4B"/>
      </a:hlink>
      <a:folHlink>
        <a:srgbClr val="A3A3BA"/>
      </a:folHlink>
    </a:clrScheme>
    <a:fontScheme name="first-commit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first//commit - CHATFS</dc:title>
  <dc:subject>PptxGenJS Presentation</dc:subject>
  <dc:creator>first//commit</dc:creator>
  <cp:lastModifiedBy>first//commit</cp:lastModifiedBy>
  <cp:revision>1</cp:revision>
  <dcterms:created xsi:type="dcterms:W3CDTF">2026-10-10T01:16:40Z</dcterms:created>
  <dcterms:modified xsi:type="dcterms:W3CDTF">2026-10-10T01:16:40Z</dcterms:modified>
</cp:coreProperties>
</file>